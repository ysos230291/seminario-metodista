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2720B-E5D9-42FA-8C64-6835CCB9C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/>
              <a:t>Idioma Inglés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E60AB2-3550-4B79-A6E1-A8409D0A5F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67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4000" dirty="0"/>
              <a:t>Lección 2: “</a:t>
            </a:r>
            <a:r>
              <a:rPr lang="es-MX" sz="4000" dirty="0" err="1"/>
              <a:t>The</a:t>
            </a:r>
            <a:r>
              <a:rPr lang="es-MX" sz="4000" dirty="0"/>
              <a:t> </a:t>
            </a:r>
            <a:r>
              <a:rPr lang="es-MX" sz="4000" dirty="0" err="1"/>
              <a:t>family</a:t>
            </a:r>
            <a:r>
              <a:rPr lang="es-MX" sz="4000" dirty="0"/>
              <a:t>”</a:t>
            </a:r>
          </a:p>
          <a:p>
            <a:pPr marL="0" indent="0">
              <a:buNone/>
            </a:pPr>
            <a:r>
              <a:rPr lang="es-MX" sz="4000" dirty="0"/>
              <a:t>-	Presentar a los miembros de la familia, utilizando los elementos gramaticales estudiados en las lecciones anteriores.</a:t>
            </a:r>
          </a:p>
          <a:p>
            <a:pPr marL="0" indent="0">
              <a:buNone/>
            </a:pPr>
            <a:r>
              <a:rPr lang="es-MX" sz="4000" dirty="0"/>
              <a:t>-	Reconocer los pronombres posesivos </a:t>
            </a:r>
            <a:r>
              <a:rPr lang="es-MX" sz="4000" dirty="0" err="1"/>
              <a:t>my</a:t>
            </a:r>
            <a:r>
              <a:rPr lang="es-MX" sz="4000" dirty="0"/>
              <a:t>, </a:t>
            </a:r>
            <a:r>
              <a:rPr lang="es-MX" sz="4000" dirty="0" err="1"/>
              <a:t>your</a:t>
            </a:r>
            <a:r>
              <a:rPr lang="es-MX" sz="4000" dirty="0"/>
              <a:t>, </a:t>
            </a:r>
            <a:r>
              <a:rPr lang="es-MX" sz="4000" dirty="0" err="1"/>
              <a:t>his</a:t>
            </a:r>
            <a:r>
              <a:rPr lang="es-MX" sz="4000" dirty="0"/>
              <a:t>, </a:t>
            </a:r>
            <a:r>
              <a:rPr lang="es-MX" sz="4000" dirty="0" err="1"/>
              <a:t>her</a:t>
            </a:r>
            <a:r>
              <a:rPr lang="es-MX" sz="4000" dirty="0"/>
              <a:t>, </a:t>
            </a:r>
            <a:r>
              <a:rPr lang="es-MX" sz="4000" dirty="0" err="1"/>
              <a:t>our</a:t>
            </a:r>
            <a:r>
              <a:rPr lang="es-MX" sz="4000" dirty="0"/>
              <a:t>, </a:t>
            </a:r>
            <a:r>
              <a:rPr lang="es-MX" sz="4000" dirty="0" err="1"/>
              <a:t>their</a:t>
            </a:r>
            <a:r>
              <a:rPr lang="es-MX" sz="4000" dirty="0"/>
              <a:t> y (‘s).</a:t>
            </a:r>
          </a:p>
        </p:txBody>
      </p:sp>
    </p:spTree>
    <p:extLst>
      <p:ext uri="{BB962C8B-B14F-4D97-AF65-F5344CB8AC3E}">
        <p14:creationId xmlns:p14="http://schemas.microsoft.com/office/powerpoint/2010/main" val="40018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1C2FF4C-0635-4AA5-85A3-B46D1D1F4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346476"/>
              </p:ext>
            </p:extLst>
          </p:nvPr>
        </p:nvGraphicFramePr>
        <p:xfrm>
          <a:off x="1154953" y="2603500"/>
          <a:ext cx="8825660" cy="341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8314">
                  <a:extLst>
                    <a:ext uri="{9D8B030D-6E8A-4147-A177-3AD203B41FA5}">
                      <a16:colId xmlns:a16="http://schemas.microsoft.com/office/drawing/2014/main" val="2732594829"/>
                    </a:ext>
                  </a:extLst>
                </a:gridCol>
                <a:gridCol w="1654056">
                  <a:extLst>
                    <a:ext uri="{9D8B030D-6E8A-4147-A177-3AD203B41FA5}">
                      <a16:colId xmlns:a16="http://schemas.microsoft.com/office/drawing/2014/main" val="1906675791"/>
                    </a:ext>
                  </a:extLst>
                </a:gridCol>
                <a:gridCol w="2801030">
                  <a:extLst>
                    <a:ext uri="{9D8B030D-6E8A-4147-A177-3AD203B41FA5}">
                      <a16:colId xmlns:a16="http://schemas.microsoft.com/office/drawing/2014/main" val="34861751"/>
                    </a:ext>
                  </a:extLst>
                </a:gridCol>
                <a:gridCol w="3332260">
                  <a:extLst>
                    <a:ext uri="{9D8B030D-6E8A-4147-A177-3AD203B41FA5}">
                      <a16:colId xmlns:a16="http://schemas.microsoft.com/office/drawing/2014/main" val="1359956867"/>
                    </a:ext>
                  </a:extLst>
                </a:gridCol>
              </a:tblGrid>
              <a:tr h="327311">
                <a:tc gridSpan="2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Adjetivos posesivos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Ejemplo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Traducción ejemplo 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24879175"/>
                  </a:ext>
                </a:extLst>
              </a:tr>
              <a:tr h="3886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My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mi, mis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This is my blouse.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Esta es mi blusa.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27061544"/>
                  </a:ext>
                </a:extLst>
              </a:tr>
              <a:tr h="3886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Your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tu, tus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This is your tie.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Esta es tu corbata.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9771192"/>
                  </a:ext>
                </a:extLst>
              </a:tr>
              <a:tr h="65462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His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su, sus (masculino)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 </a:t>
                      </a:r>
                      <a:r>
                        <a:rPr lang="es-ES" sz="2000" dirty="0" err="1">
                          <a:effectLst/>
                        </a:rPr>
                        <a:t>This</a:t>
                      </a:r>
                      <a:r>
                        <a:rPr lang="es-ES" sz="2000" dirty="0">
                          <a:effectLst/>
                        </a:rPr>
                        <a:t> </a:t>
                      </a:r>
                      <a:r>
                        <a:rPr lang="es-ES" sz="2000" dirty="0" err="1">
                          <a:effectLst/>
                        </a:rPr>
                        <a:t>is</a:t>
                      </a:r>
                      <a:r>
                        <a:rPr lang="es-ES" sz="2000" dirty="0">
                          <a:effectLst/>
                        </a:rPr>
                        <a:t> </a:t>
                      </a:r>
                      <a:r>
                        <a:rPr lang="es-ES" sz="2000" dirty="0" err="1">
                          <a:effectLst/>
                        </a:rPr>
                        <a:t>his</a:t>
                      </a:r>
                      <a:r>
                        <a:rPr lang="es-ES" sz="2000" dirty="0">
                          <a:effectLst/>
                        </a:rPr>
                        <a:t> </a:t>
                      </a:r>
                      <a:r>
                        <a:rPr lang="es-ES" sz="2000" dirty="0" err="1">
                          <a:effectLst/>
                        </a:rPr>
                        <a:t>wardrobe</a:t>
                      </a:r>
                      <a:r>
                        <a:rPr lang="es-ES" sz="2000" dirty="0">
                          <a:effectLst/>
                        </a:rPr>
                        <a:t>. </a:t>
                      </a:r>
                      <a:endParaRPr lang="es-MX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Este es su vestuario.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1606099"/>
                  </a:ext>
                </a:extLst>
              </a:tr>
              <a:tr h="65462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Her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su, sus (femenino)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This is her dress.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Este es su vestido.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03271710"/>
                  </a:ext>
                </a:extLst>
              </a:tr>
              <a:tr h="34776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Its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su, sus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This is its collar.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Este es su collar.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74236395"/>
                  </a:ext>
                </a:extLst>
              </a:tr>
              <a:tr h="65462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Our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nuestro/a nuestros/as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effectLst/>
                        </a:rPr>
                        <a:t> These are our suitcases. </a:t>
                      </a:r>
                      <a:endParaRPr lang="es-MX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effectLst/>
                        </a:rPr>
                        <a:t> Estas son nuestras maletas. </a:t>
                      </a:r>
                      <a:endParaRPr lang="es-MX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40155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934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3CD6A57-8F26-46B3-B44C-6D60E093B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86121"/>
              </p:ext>
            </p:extLst>
          </p:nvPr>
        </p:nvGraphicFramePr>
        <p:xfrm>
          <a:off x="1555844" y="2603500"/>
          <a:ext cx="7001301" cy="3770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0611">
                  <a:extLst>
                    <a:ext uri="{9D8B030D-6E8A-4147-A177-3AD203B41FA5}">
                      <a16:colId xmlns:a16="http://schemas.microsoft.com/office/drawing/2014/main" val="3934654041"/>
                    </a:ext>
                  </a:extLst>
                </a:gridCol>
                <a:gridCol w="3710690">
                  <a:extLst>
                    <a:ext uri="{9D8B030D-6E8A-4147-A177-3AD203B41FA5}">
                      <a16:colId xmlns:a16="http://schemas.microsoft.com/office/drawing/2014/main" val="3719088558"/>
                    </a:ext>
                  </a:extLst>
                </a:gridCol>
              </a:tblGrid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Inglés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Español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023926746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adopted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</a:rPr>
                        <a:t> adoptado</a:t>
                      </a:r>
                      <a:endParaRPr lang="es-MX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023674735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aunt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tía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31665307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brother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hermano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42873075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cousin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primo/a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634617454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dad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papá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26182672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daughter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hija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517489409"/>
                  </a:ext>
                </a:extLst>
              </a:tr>
              <a:tr h="47125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daughter-in-law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</a:rPr>
                        <a:t> nuera</a:t>
                      </a:r>
                      <a:endParaRPr lang="es-MX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241663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2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A213121-7E97-4D0A-850B-2B1FAFF13F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928229"/>
              </p:ext>
            </p:extLst>
          </p:nvPr>
        </p:nvGraphicFramePr>
        <p:xfrm>
          <a:off x="1154954" y="2464904"/>
          <a:ext cx="7763759" cy="39491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48966">
                  <a:extLst>
                    <a:ext uri="{9D8B030D-6E8A-4147-A177-3AD203B41FA5}">
                      <a16:colId xmlns:a16="http://schemas.microsoft.com/office/drawing/2014/main" val="586931611"/>
                    </a:ext>
                  </a:extLst>
                </a:gridCol>
                <a:gridCol w="4114793">
                  <a:extLst>
                    <a:ext uri="{9D8B030D-6E8A-4147-A177-3AD203B41FA5}">
                      <a16:colId xmlns:a16="http://schemas.microsoft.com/office/drawing/2014/main" val="1190821682"/>
                    </a:ext>
                  </a:extLst>
                </a:gridCol>
              </a:tblGrid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elder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el/la mayor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04837996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family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familia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15645929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father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padre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234637933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father-in-law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suegro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000773794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foster parents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familia de acogida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3914864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godfather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padrino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534348960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godmother 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madrina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76061189"/>
                  </a:ext>
                </a:extLst>
              </a:tr>
              <a:tr h="49364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grandchild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</a:rPr>
                        <a:t> nieto/a</a:t>
                      </a:r>
                      <a:endParaRPr lang="es-MX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18430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01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743CF93A-277F-4880-8601-0D8193DD1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387659"/>
              </p:ext>
            </p:extLst>
          </p:nvPr>
        </p:nvGraphicFramePr>
        <p:xfrm>
          <a:off x="1154954" y="2504661"/>
          <a:ext cx="7896281" cy="4183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1252">
                  <a:extLst>
                    <a:ext uri="{9D8B030D-6E8A-4147-A177-3AD203B41FA5}">
                      <a16:colId xmlns:a16="http://schemas.microsoft.com/office/drawing/2014/main" val="4068865296"/>
                    </a:ext>
                  </a:extLst>
                </a:gridCol>
                <a:gridCol w="4185029">
                  <a:extLst>
                    <a:ext uri="{9D8B030D-6E8A-4147-A177-3AD203B41FA5}">
                      <a16:colId xmlns:a16="http://schemas.microsoft.com/office/drawing/2014/main" val="285672859"/>
                    </a:ext>
                  </a:extLst>
                </a:gridCol>
              </a:tblGrid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grandchildren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nietos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242195985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granddad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abuelito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84535239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granddaughter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nieta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047542239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grandfather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abuelo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30351479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grandma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abuelita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46098315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grandmother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abuela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484225040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grandpa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abuelito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28689465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grandparents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abuelos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860813362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grandson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</a:rPr>
                        <a:t> nieto</a:t>
                      </a:r>
                      <a:endParaRPr lang="es-MX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532903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960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0B036EEE-A34A-4F83-A6A0-0B760B0C95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3022825"/>
              </p:ext>
            </p:extLst>
          </p:nvPr>
        </p:nvGraphicFramePr>
        <p:xfrm>
          <a:off x="1154954" y="2531164"/>
          <a:ext cx="7936037" cy="403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9937">
                  <a:extLst>
                    <a:ext uri="{9D8B030D-6E8A-4147-A177-3AD203B41FA5}">
                      <a16:colId xmlns:a16="http://schemas.microsoft.com/office/drawing/2014/main" val="1351349479"/>
                    </a:ext>
                  </a:extLst>
                </a:gridCol>
                <a:gridCol w="4206100">
                  <a:extLst>
                    <a:ext uri="{9D8B030D-6E8A-4147-A177-3AD203B41FA5}">
                      <a16:colId xmlns:a16="http://schemas.microsoft.com/office/drawing/2014/main" val="4036579080"/>
                    </a:ext>
                  </a:extLst>
                </a:gridCol>
              </a:tblGrid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only child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hijo/a único/a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931693933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orphan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huérfano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9233198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parents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padres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261379029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single parent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padre/madre soltero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245166462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sister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hermana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62518418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son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hijo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683174542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son-in-law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yerno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86372980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stepdaughter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hijastra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835559005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stepfather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padrastro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81074299"/>
                  </a:ext>
                </a:extLst>
              </a:tr>
              <a:tr h="4015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>
                          <a:effectLst/>
                        </a:rPr>
                        <a:t> stepmother </a:t>
                      </a:r>
                      <a:endParaRPr lang="es-MX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400" dirty="0">
                          <a:effectLst/>
                        </a:rPr>
                        <a:t> madrastra</a:t>
                      </a:r>
                      <a:endParaRPr lang="es-MX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61011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52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3C91530-0991-4059-A19E-EC0DC4B5A3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976149"/>
              </p:ext>
            </p:extLst>
          </p:nvPr>
        </p:nvGraphicFramePr>
        <p:xfrm>
          <a:off x="1974574" y="2782956"/>
          <a:ext cx="6321287" cy="23986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1005">
                  <a:extLst>
                    <a:ext uri="{9D8B030D-6E8A-4147-A177-3AD203B41FA5}">
                      <a16:colId xmlns:a16="http://schemas.microsoft.com/office/drawing/2014/main" val="930250816"/>
                    </a:ext>
                  </a:extLst>
                </a:gridCol>
                <a:gridCol w="3350282">
                  <a:extLst>
                    <a:ext uri="{9D8B030D-6E8A-4147-A177-3AD203B41FA5}">
                      <a16:colId xmlns:a16="http://schemas.microsoft.com/office/drawing/2014/main" val="758988436"/>
                    </a:ext>
                  </a:extLst>
                </a:gridCol>
              </a:tblGrid>
              <a:tr h="5996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stepson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hijastro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910299483"/>
                  </a:ext>
                </a:extLst>
              </a:tr>
              <a:tr h="5996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twins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gemelos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398431206"/>
                  </a:ext>
                </a:extLst>
              </a:tr>
              <a:tr h="5996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uncle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tío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55172847"/>
                  </a:ext>
                </a:extLst>
              </a:tr>
              <a:tr h="5996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>
                          <a:effectLst/>
                        </a:rPr>
                        <a:t> wife</a:t>
                      </a:r>
                      <a:endParaRPr lang="es-MX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800" dirty="0">
                          <a:effectLst/>
                        </a:rPr>
                        <a:t> esposa</a:t>
                      </a:r>
                      <a:endParaRPr lang="es-MX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470592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17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428A0-9243-4DC7-BF91-43CAF147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/>
              <a:t>Class</a:t>
            </a:r>
            <a:r>
              <a:rPr lang="es-US" dirty="0"/>
              <a:t> # 2. </a:t>
            </a:r>
            <a:r>
              <a:rPr lang="es-US" dirty="0" err="1"/>
              <a:t>The</a:t>
            </a:r>
            <a:r>
              <a:rPr lang="es-US" dirty="0"/>
              <a:t> </a:t>
            </a:r>
            <a:r>
              <a:rPr lang="es-US" dirty="0" err="1"/>
              <a:t>Family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B68F4-46AB-476C-A8CD-E63BB4D03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es-MX" sz="2800" dirty="0"/>
              <a:t>Tarea:</a:t>
            </a:r>
          </a:p>
          <a:p>
            <a:pPr marL="0" indent="0">
              <a:buNone/>
            </a:pPr>
            <a:endParaRPr lang="es-MX" sz="2800" dirty="0"/>
          </a:p>
          <a:p>
            <a:pPr>
              <a:buFontTx/>
              <a:buChar char="-"/>
            </a:pPr>
            <a:r>
              <a:rPr lang="es-MX" sz="2800" dirty="0"/>
              <a:t>Conocer sobre los oficios y profesiones, empleando elementos gramaticales estudiados en lecciones </a:t>
            </a:r>
            <a:r>
              <a:rPr lang="es-MX" sz="2800"/>
              <a:t>anteriores.</a:t>
            </a:r>
          </a:p>
          <a:p>
            <a:pPr>
              <a:buFontTx/>
              <a:buChar char="-"/>
            </a:pPr>
            <a:endParaRPr lang="es-MX" sz="2800" dirty="0"/>
          </a:p>
          <a:p>
            <a:pPr>
              <a:buFontTx/>
              <a:buChar char="-"/>
            </a:pPr>
            <a:r>
              <a:rPr lang="es-MX" sz="2800" dirty="0"/>
              <a:t>“</a:t>
            </a:r>
            <a:r>
              <a:rPr lang="es-MX" sz="2800" dirty="0" err="1"/>
              <a:t>What</a:t>
            </a:r>
            <a:r>
              <a:rPr lang="es-MX" sz="2800" dirty="0"/>
              <a:t> are </a:t>
            </a:r>
            <a:r>
              <a:rPr lang="es-MX" sz="2800" dirty="0" err="1"/>
              <a:t>you</a:t>
            </a:r>
            <a:r>
              <a:rPr lang="es-MX" sz="2800" dirty="0"/>
              <a:t> </a:t>
            </a:r>
            <a:r>
              <a:rPr lang="es-MX" sz="2800" dirty="0" err="1"/>
              <a:t>doing</a:t>
            </a:r>
            <a:r>
              <a:rPr lang="es-MX" sz="2800" dirty="0"/>
              <a:t>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848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89</Words>
  <Application>Microsoft Office PowerPoint</Application>
  <PresentationFormat>Panorámica</PresentationFormat>
  <Paragraphs>123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Times New Roman</vt:lpstr>
      <vt:lpstr>Wingdings 3</vt:lpstr>
      <vt:lpstr>Sala de reuniones Ion</vt:lpstr>
      <vt:lpstr>Idioma Inglés</vt:lpstr>
      <vt:lpstr>Class # 2. The Family</vt:lpstr>
      <vt:lpstr>Class # 2. The Family</vt:lpstr>
      <vt:lpstr>Class # 2. The Family</vt:lpstr>
      <vt:lpstr>Class # 2. The Family</vt:lpstr>
      <vt:lpstr>Class # 2. The Family</vt:lpstr>
      <vt:lpstr>Class # 2. The Family</vt:lpstr>
      <vt:lpstr>Class # 2. The Family</vt:lpstr>
      <vt:lpstr>Class # 2. The Family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Idioma Inglés</dc:title>
  <dc:creator>Yunior</dc:creator>
  <cp:lastModifiedBy>Yunior</cp:lastModifiedBy>
  <cp:revision>10</cp:revision>
  <dcterms:created xsi:type="dcterms:W3CDTF">2022-12-04T02:14:44Z</dcterms:created>
  <dcterms:modified xsi:type="dcterms:W3CDTF">2022-12-04T02:55:26Z</dcterms:modified>
</cp:coreProperties>
</file>